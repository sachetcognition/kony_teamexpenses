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Kony to React Migration Strategy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BFDBFE"/>
                </a:solidFill>
              </a:rPr>
              <a:t>Accelerating Modernization with Human + AI Collaboration</a:t>
            </a:r>
          </a:p>
          <a:p>
            <a:pPr>
              <a:spcBef>
                <a:spcPts val="2400"/>
              </a:spcBef>
            </a:pPr>
            <a:r>
              <a:rPr sz="1600">
                <a:solidFill>
                  <a:srgbClr val="93C5FD"/>
                </a:solidFill>
              </a:rPr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200" b="1">
                <a:solidFill>
                  <a:srgbClr val="1E293B"/>
                </a:solidFill>
              </a:rPr>
              <a:t>"Proven migration playbook for Low, Medium, and High complexity Kony apps"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200" b="1">
                <a:solidFill>
                  <a:srgbClr val="1E293B"/>
                </a:solidFill>
              </a:rPr>
              <a:t>"AI-augmented approach reduces migration effort by 40-65% compared to manual rewrite"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200" b="1">
                <a:solidFill>
                  <a:srgbClr val="1E293B"/>
                </a:solidFill>
              </a:rPr>
              <a:t>"Every business logic path preserved — zero functional regression"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051560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 structured, repeatable methodology that scales from 5-form apps to enterprise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Migrate from Kony?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DBFE"/>
                </a:solidFill>
              </a:defRPr>
            </a:pPr>
            <a:r>
              <a:t>Unlock your business logic from a proprietary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B2A4A"/>
                </a:solidFill>
              </a:rPr>
              <a:t>Kony (Temenos Quantum) Limitations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Vendor lock-in:</a:t>
            </a:r>
            <a:r>
              <a:rPr sz="1600">
                <a:solidFill>
                  <a:srgbClr val="4B5563"/>
                </a:solidFill>
              </a:rPr>
              <a:t> proprietary UI framework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Fabric middleware dependency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Limited talent pool &amp; community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High licensing costs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Declining ecosystem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Target:</a:t>
            </a:r>
            <a:r>
              <a:rPr sz="1600">
                <a:solidFill>
                  <a:srgbClr val="4B5563"/>
                </a:solidFill>
              </a:rPr>
              <a:t> React + PostgreSQL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Open-source, zero licensing cost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Massive talent pool worldwide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Modern tooling &amp; DevOps ecosystem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Component-based architecture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Vibrant community &amp; long-term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5156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"Unlock your business logic from a proprietary platform"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3-Tier Migration Playbook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017520"/>
                <a:gridCol w="3017520"/>
              </a:tblGrid>
              <a:tr h="69494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Low Complexity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Medium Complexity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High Complexity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Forms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3–5 forms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10–25 forms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25+ forms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Entities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≤5 entities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5–15 entities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15+ entities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Characteristics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Simple CRUD
(e.g., Team Expenses)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Offline sync,
role-based access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Complex sync, external
integrations, multi-tenant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Typical Effort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~74 hours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~380 hours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~1,150 hours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"One methodology, three calibrated approaches"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Collaboration Model — Three Actors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114800"/>
          </a:xfrm>
          <a:prstGeom prst="round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9E0B"/>
                </a:solidFill>
              </a:rPr>
              <a:t>👤 Human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Strategic decisions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UX design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Architecture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Domain expertise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Security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4114800"/>
          </a:xfrm>
          <a:prstGeom prst="roundRect">
            <a:avLst/>
          </a:prstGeom>
          <a:solidFill>
            <a:srgbClr val="ECFD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6B6D4"/>
                </a:solidFill>
              </a:rPr>
              <a:t>👤+💻 Human + Code Assist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Complex logic porting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Edge cases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Code review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API contract design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Responsive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4114800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7C3AED"/>
                </a:solidFill>
              </a:rPr>
              <a:t>🤖 Devin (AI Agent)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Scaffolding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CRUD generation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Test writing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Mechanical porting</a:t>
            </a:r>
          </a:p>
          <a:p>
            <a:pPr algn="l"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• Documentation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852160"/>
            <a:ext cx="110642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"Each actor plays to their strengths — no wasted effort"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SDLC Phase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DBFE"/>
                </a:solidFill>
              </a:defRPr>
            </a:pPr>
            <a:r>
              <a:t>AI accelerates every phase, not just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1168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331720"/>
            <a:ext cx="274320" cy="45720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011680"/>
            <a:ext cx="201168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2331720"/>
            <a:ext cx="274320" cy="45720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201168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2331720"/>
            <a:ext cx="274320" cy="45720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201168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8320" y="2331720"/>
            <a:ext cx="274320" cy="45720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2011680"/>
            <a:ext cx="2011680" cy="10972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11064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🤖 Devin AI involvement spans ALL phases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Discovery:</a:t>
            </a:r>
            <a:r>
              <a:rPr sz="1400">
                <a:solidFill>
                  <a:srgbClr val="4B5563"/>
                </a:solidFill>
              </a:rPr>
              <a:t> Auto-inventory Kony forms, modules, data models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Architecture:</a:t>
            </a:r>
            <a:r>
              <a:rPr sz="1400">
                <a:solidFill>
                  <a:srgbClr val="4B5563"/>
                </a:solidFill>
              </a:rPr>
              <a:t> Generate DB schema, scaffolding, CI/CD pipeline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Implementation:</a:t>
            </a:r>
            <a:r>
              <a:rPr sz="1400">
                <a:solidFill>
                  <a:srgbClr val="4B5563"/>
                </a:solidFill>
              </a:rPr>
              <a:t> CRUD endpoints, UI scaffolding, mechanical porting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Testing:</a:t>
            </a:r>
            <a:r>
              <a:rPr sz="1400">
                <a:solidFill>
                  <a:srgbClr val="4B5563"/>
                </a:solidFill>
              </a:rPr>
              <a:t> Unit tests, integration tests, E2E test generation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Deployment:</a:t>
            </a:r>
            <a:r>
              <a:rPr sz="1400">
                <a:solidFill>
                  <a:srgbClr val="4B5563"/>
                </a:solidFill>
              </a:rPr>
              <a:t> Docker setup, documentation, README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1 — Discovery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DBFE"/>
                </a:solidFill>
              </a:defRPr>
            </a:pPr>
            <a:r>
              <a:t>Acceleration 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Key stat:</a:t>
            </a:r>
            <a:r>
              <a:rPr sz="1600">
                <a:solidFill>
                  <a:srgbClr val="4B5563"/>
                </a:solidFill>
              </a:rPr>
              <a:t> Devin autonomously inventories 100% of Kony forms, modules, and data models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Devin (AI Agent):</a:t>
            </a:r>
            <a:r>
              <a:rPr sz="1600">
                <a:solidFill>
                  <a:srgbClr val="4B5563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URS document auto-generated from codebase analysis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Traceability matrix created automatically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Form inventory with widget counts, data bindings, service calls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Human Focus:</a:t>
            </a:r>
            <a:r>
              <a:rPr sz="1600">
                <a:solidFill>
                  <a:srgbClr val="4B5563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Stakeholder alignment and business rule validation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Prioritization of migration scope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Sign-off on requirements completeness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5156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"75% of discovery work automated for low complexity apps"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2 — Architecture &amp;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6217920"/>
              </a:tblGrid>
              <a:tr h="52251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Lead Actor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Details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DB schema from MF_Config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Auto-generate Prisma/SQL schema from Kony object services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Project scaffolding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React + Node.js boilerplate, folder structure, configs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CI/CD pipeline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GitHub Actions / Docker build pipeline setup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Tech stack decisions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Framework choices, auth strategy, hosting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UX design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Wireframes, user flows, interaction patterns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API contract design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+ Code Assist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RESTful endpoint specs, request/response schemas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669280"/>
            <a:ext cx="110642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"Humans make the strategic calls; AI handles the structural work"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3 — Implementation (Backend)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5394960"/>
              </a:tblGrid>
              <a:tr h="496388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Lead Actor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Autonomy (Low Complexity)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CRUD endpoints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70% autonomous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Aggregation queries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65% autonomous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Kony SDK → REST porting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70% autonomous (mechanical)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Complex transactions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+ Code Assist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Guided by human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Auth / RBAC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+ Code Assist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Security-critical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Business rule validation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+ Code Assist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Domain expertise needed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486400"/>
            <a:ext cx="110642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"60-70% of backend code generated autonomously for low/medium apps"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3 — Implementation (Frontend — Granular)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120640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Sub-Category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Lead Actor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Layout, routing, scaffolding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Simple forms, data tables, API hooks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Design system (Tailwind/shadcn)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Complex forms, conditional logic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+ Code Assist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Responsive design, accessibility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+ Code Assist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UX polish, animations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303520"/>
            <a:ext cx="110642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"AI builds the 80% foundation; humans craft the 20% that delights users"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3 — Kony-Specific Migration Tasks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474720"/>
                <a:gridCol w="4389120"/>
              </a:tblGrid>
              <a:tr h="53340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Kony Pattern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React Equivalent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Lead Actor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kony.sdk.KNYObjSvc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Prisma / REST 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Callback chains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async/await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Client-side JOINs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SQL JOINs (Prisma)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Form widget refs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React state / hooks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+ Code Assist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KonySyncLib (offline)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Modern offline-first libs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303520"/>
            <a:ext cx="1106424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"The most tedious migration work is exactly where AI shines brightest"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4 — Testing (Comprehensive Coverage)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🤖 Devin Generates:</a:t>
            </a:r>
            <a:r>
              <a:rPr sz="1600">
                <a:solidFill>
                  <a:srgbClr val="4B5563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Unit tests (happy path)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Integration tests (CRUD flows)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E2E user journey tests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Video capture of test runs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Key stat:</a:t>
            </a:r>
            <a:r>
              <a:rPr sz="1600">
                <a:solidFill>
                  <a:srgbClr val="4B5563"/>
                </a:solidFill>
              </a:rPr>
              <a:t> 65% of test code auto-generated for low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👤+💻 Human + Code Assist:</a:t>
            </a:r>
            <a:r>
              <a:rPr sz="1600">
                <a:solidFill>
                  <a:srgbClr val="4B5563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Edge case tests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Error scenario coverage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</a:rPr>
              <a:t>👤 Human Leads:</a:t>
            </a:r>
            <a:r>
              <a:rPr sz="1600">
                <a:solidFill>
                  <a:srgbClr val="4B5563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Security testing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Performance testing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</a:rPr>
              <a:t>Accessibility audits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669280"/>
            <a:ext cx="110642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"Ship with confidence — every business logic path tested"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5 — Deployment &amp; Handover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6035040"/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Lead Actor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Details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Docker setup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Containerized app with docker-compose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CI/CD pipeline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Build, test, deploy automation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Documentation &amp; README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Auto-generated API docs, setup guides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Production config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Environment vars, secrets, scaling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Data migration strategy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Cutover plan, data validation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Monitoring &amp; alerting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Observability, error tracking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Team training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Knowledge transfer sessions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669280"/>
            <a:ext cx="110642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"From code to production with automated DevOps"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Productivity &amp; ROI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743200"/>
                <a:gridCol w="2651760"/>
              </a:tblGrid>
              <a:tr h="53340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Low Complexity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Medium Complexity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High Complexity</a:t>
                      </a:r>
                    </a:p>
                  </a:txBody>
                  <a:tcPr marL="73152" marR="73152" marT="27432" marB="27432">
                    <a:solidFill>
                      <a:srgbClr val="1B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Total Effort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~74 hours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~380 hours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~1,150 hours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Devin Autonomous Share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65%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40%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30%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+ Code Assist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20%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Human Only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15%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25%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 marL="73152" marR="73152" marT="27432" marB="27432">
                    <a:solidFill>
                      <a:srgbClr val="E8EE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Est. Time Saved vs Manual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~65%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~45%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sz="1100">
                          <a:solidFill>
                            <a:srgbClr val="1E293B"/>
                          </a:solidFill>
                        </a:rPr>
                        <a:t>~35%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5029200"/>
            <a:ext cx="22860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Human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5029200"/>
            <a:ext cx="22860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Human + 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5029200"/>
            <a:ext cx="22860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Devin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0642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"AI doesn't replace the team — it multiplies their output"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Without Devin vs. With Devin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FDBFE"/>
                </a:solidFill>
              </a:defRPr>
            </a:pPr>
            <a:r>
              <a:t>Productivity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F4444"/>
                </a:solidFill>
              </a:rPr>
              <a:t>Without Devin (Manual Only)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Low Complexity: </a:t>
            </a:r>
            <a:r>
              <a:rPr sz="1300">
                <a:solidFill>
                  <a:srgbClr val="4B5563"/>
                </a:solidFill>
              </a:rPr>
              <a:t>~210 hours (2.8x more)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Medium Complexity: </a:t>
            </a:r>
            <a:r>
              <a:rPr sz="1300">
                <a:solidFill>
                  <a:srgbClr val="4B5563"/>
                </a:solidFill>
              </a:rPr>
              <a:t>~690 hours (1.8x more)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High Complexity: </a:t>
            </a:r>
            <a:r>
              <a:rPr sz="1300">
                <a:solidFill>
                  <a:srgbClr val="4B5563"/>
                </a:solidFill>
              </a:rPr>
              <a:t>~1,770 hours (1.5x more)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Discovery: </a:t>
            </a:r>
            <a:r>
              <a:rPr sz="1300">
                <a:solidFill>
                  <a:srgbClr val="4B5563"/>
                </a:solidFill>
              </a:rPr>
              <a:t>Manual form-by-form inventory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CRUD Endpoints: </a:t>
            </a:r>
            <a:r>
              <a:rPr sz="1300">
                <a:solidFill>
                  <a:srgbClr val="4B5563"/>
                </a:solidFill>
              </a:rPr>
              <a:t>100% hand-coded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Test Coverage: </a:t>
            </a:r>
            <a:r>
              <a:rPr sz="1300">
                <a:solidFill>
                  <a:srgbClr val="4B5563"/>
                </a:solidFill>
              </a:rPr>
              <a:t>Manual test writing only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Schema Migration: </a:t>
            </a:r>
            <a:r>
              <a:rPr sz="1300">
                <a:solidFill>
                  <a:srgbClr val="4B5563"/>
                </a:solidFill>
              </a:rPr>
              <a:t>Manual DDL creation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Documentation: </a:t>
            </a:r>
            <a:r>
              <a:rPr sz="1300">
                <a:solidFill>
                  <a:srgbClr val="4B5563"/>
                </a:solidFill>
              </a:rPr>
              <a:t>Manually authored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0B981"/>
                </a:solidFill>
              </a:rPr>
              <a:t>With Devin (AI-Augmented)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Low Complexity: </a:t>
            </a:r>
            <a:r>
              <a:rPr sz="1300">
                <a:solidFill>
                  <a:srgbClr val="4B5563"/>
                </a:solidFill>
              </a:rPr>
              <a:t>~74 hours (65% savings)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Medium Complexity: </a:t>
            </a:r>
            <a:r>
              <a:rPr sz="1300">
                <a:solidFill>
                  <a:srgbClr val="4B5563"/>
                </a:solidFill>
              </a:rPr>
              <a:t>~380 hours (45% savings)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High Complexity: </a:t>
            </a:r>
            <a:r>
              <a:rPr sz="1300">
                <a:solidFill>
                  <a:srgbClr val="4B5563"/>
                </a:solidFill>
              </a:rPr>
              <a:t>~1,150 hours (35% savings)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Discovery: </a:t>
            </a:r>
            <a:r>
              <a:rPr sz="1300">
                <a:solidFill>
                  <a:srgbClr val="4B5563"/>
                </a:solidFill>
              </a:rPr>
              <a:t>100% auto-inventory by Devin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CRUD Endpoints: </a:t>
            </a:r>
            <a:r>
              <a:rPr sz="1300">
                <a:solidFill>
                  <a:srgbClr val="4B5563"/>
                </a:solidFill>
              </a:rPr>
              <a:t>70% auto-generated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Test Coverage: </a:t>
            </a:r>
            <a:r>
              <a:rPr sz="1300">
                <a:solidFill>
                  <a:srgbClr val="4B5563"/>
                </a:solidFill>
              </a:rPr>
              <a:t>65% test code auto-generated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Schema Migration: </a:t>
            </a:r>
            <a:r>
              <a:rPr sz="1300">
                <a:solidFill>
                  <a:srgbClr val="4B5563"/>
                </a:solidFill>
              </a:rPr>
              <a:t>Auto-generated from MF_Config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E293B"/>
                </a:solidFill>
              </a:rPr>
              <a:t>Documentation: </a:t>
            </a:r>
            <a:r>
              <a:rPr sz="1300">
                <a:solidFill>
                  <a:srgbClr val="4B5563"/>
                </a:solidFill>
              </a:rPr>
              <a:t>Auto-generated docs &amp; README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217920"/>
            <a:ext cx="1106424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"Devin turns weeks of manual effort into days of guided collaboration"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Migration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828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Zero business logic loss — every Kony function mapped, ported, and tested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2004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Right actor for every task — humans focus on high-value decisions, AI handles the rest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Scalable playbook — same methodology works from 5-form apps to enterprise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1033272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Start with a low-complexity pilot to prove the approach, then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B556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